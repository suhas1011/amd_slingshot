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 id="270" r:id="rId17"/>
  </p:sldIdLst>
  <p:sldSz cx="9144000" cy="5143500"/>
  <p:notesSz cx="6858000" cy="9144000"/>
  <p:embeddedFontLst>
    <p:embeddedFont>
      <p:font typeface="Poppins" panose="00000500000000000000"/>
      <p:regular r:id="rId21"/>
      <p:bold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 name="Shape 59"/>
        <p:cNvGrpSpPr/>
        <p:nvPr/>
      </p:nvGrpSpPr>
      <p:grpSpPr>
        <a:xfrm>
          <a:off x="0" y="0"/>
          <a:ext cx="0" cy="0"/>
          <a:chOff x="0" y="0"/>
          <a:chExt cx="0" cy="0"/>
        </a:xfrm>
      </p:grpSpPr>
      <p:sp>
        <p:nvSpPr>
          <p:cNvPr id="60" name="Google Shape;60;g37fa3dcd40f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7fa3dcd40f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67"/>
        <p:cNvGrpSpPr/>
        <p:nvPr/>
      </p:nvGrpSpPr>
      <p:grpSpPr>
        <a:xfrm>
          <a:off x="0" y="0"/>
          <a:ext cx="0" cy="0"/>
          <a:chOff x="0" y="0"/>
          <a:chExt cx="0" cy="0"/>
        </a:xfrm>
      </p:grpSpPr>
      <p:sp>
        <p:nvSpPr>
          <p:cNvPr id="68" name="Google Shape;68;g37fa3dcd40f_0_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7fa3dcd40f_0_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 name="Shape 76"/>
        <p:cNvGrpSpPr/>
        <p:nvPr/>
      </p:nvGrpSpPr>
      <p:grpSpPr>
        <a:xfrm>
          <a:off x="0" y="0"/>
          <a:ext cx="0" cy="0"/>
          <a:chOff x="0" y="0"/>
          <a:chExt cx="0" cy="0"/>
        </a:xfrm>
      </p:grpSpPr>
      <p:sp>
        <p:nvSpPr>
          <p:cNvPr id="77" name="Google Shape;77;g37fa3dcd40f_0_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7fa3dcd40f_0_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g37fa3dcd40f_0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7fa3dcd40f_0_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37fa3dcd40f_0_5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fa3dcd40f_0_5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g37fa3dcd40f_0_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fa3dcd40f_0_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g37fa3dcd40f_0_6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7fa3dcd40f_0_6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g37fa3dcd40f_0_6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fa3dcd40f_0_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g37fa3dcd40f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7fa3dcd40f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g37fa3dcd40f_0_8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7fa3dcd40f_0_8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g37fa3dcd40f_0_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7fa3dcd40f_0_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g381babfb1b7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81babfb1b7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g37fa3dcd40f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fa3dcd40f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p>
        </p:txBody>
      </p:sp>
      <p:sp>
        <p:nvSpPr>
          <p:cNvPr id="55" name="Google Shape;55;p13"/>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p>
        </p:txBody>
      </p:sp>
      <p:pic>
        <p:nvPicPr>
          <p:cNvPr id="56" name="Google Shape;56;p13" title="AMD.PS.S11.png"/>
          <p:cNvPicPr preferRelativeResize="0"/>
          <p:nvPr/>
        </p:nvPicPr>
        <p:blipFill>
          <a:blip r:embed="rId1"/>
          <a:stretch>
            <a:fillRect/>
          </a:stretch>
        </p:blipFill>
        <p:spPr>
          <a:xfrm>
            <a:off x="0" y="0"/>
            <a:ext cx="9144000" cy="5143500"/>
          </a:xfrm>
          <a:prstGeom prst="rect">
            <a:avLst/>
          </a:prstGeom>
          <a:noFill/>
          <a:ln>
            <a:noFill/>
          </a:ln>
        </p:spPr>
      </p:pic>
      <p:sp>
        <p:nvSpPr>
          <p:cNvPr id="57" name="Google Shape;57;p13"/>
          <p:cNvSpPr txBox="1"/>
          <p:nvPr/>
        </p:nvSpPr>
        <p:spPr>
          <a:xfrm>
            <a:off x="179825" y="3316325"/>
            <a:ext cx="3000000" cy="4617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r>
              <a:rPr lang="en-GB" sz="1800" b="1">
                <a:solidFill>
                  <a:schemeClr val="dk1"/>
                </a:solidFill>
                <a:latin typeface="Poppins" panose="00000500000000000000"/>
                <a:ea typeface="Poppins" panose="00000500000000000000"/>
                <a:cs typeface="Poppins" panose="00000500000000000000"/>
                <a:sym typeface="Poppins" panose="00000500000000000000"/>
              </a:rPr>
              <a:t>Team Details</a:t>
            </a:r>
            <a:endParaRPr sz="1800">
              <a:latin typeface="Poppins" panose="00000500000000000000"/>
              <a:ea typeface="Poppins" panose="00000500000000000000"/>
              <a:cs typeface="Poppins" panose="00000500000000000000"/>
              <a:sym typeface="Poppins" panose="00000500000000000000"/>
            </a:endParaRPr>
          </a:p>
        </p:txBody>
      </p:sp>
      <p:sp>
        <p:nvSpPr>
          <p:cNvPr id="58" name="Google Shape;58;p13"/>
          <p:cNvSpPr txBox="1"/>
          <p:nvPr/>
        </p:nvSpPr>
        <p:spPr>
          <a:xfrm>
            <a:off x="540825" y="3778025"/>
            <a:ext cx="30000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panose="00000500000000000000"/>
              <a:buChar char="➔"/>
            </a:pPr>
            <a:r>
              <a:rPr lang="en-GB">
                <a:solidFill>
                  <a:schemeClr val="dk1"/>
                </a:solidFill>
                <a:latin typeface="Poppins" panose="00000500000000000000"/>
                <a:ea typeface="Poppins" panose="00000500000000000000"/>
                <a:cs typeface="Poppins" panose="00000500000000000000"/>
                <a:sym typeface="Poppins" panose="00000500000000000000"/>
              </a:rPr>
              <a:t>Team name - </a:t>
            </a:r>
            <a:endParaRPr>
              <a:solidFill>
                <a:schemeClr val="dk1"/>
              </a:solidFill>
              <a:latin typeface="Poppins" panose="00000500000000000000"/>
              <a:ea typeface="Poppins" panose="00000500000000000000"/>
              <a:cs typeface="Poppins" panose="00000500000000000000"/>
              <a:sym typeface="Poppins" panose="00000500000000000000"/>
            </a:endParaRPr>
          </a:p>
          <a:p>
            <a:pPr marL="457200" lvl="0" indent="-317500" algn="l" rtl="0">
              <a:lnSpc>
                <a:spcPct val="115000"/>
              </a:lnSpc>
              <a:spcBef>
                <a:spcPts val="0"/>
              </a:spcBef>
              <a:spcAft>
                <a:spcPts val="0"/>
              </a:spcAft>
              <a:buClr>
                <a:schemeClr val="dk1"/>
              </a:buClr>
              <a:buSzPts val="1400"/>
              <a:buFont typeface="Poppins" panose="00000500000000000000"/>
              <a:buChar char="➔"/>
            </a:pPr>
            <a:r>
              <a:rPr lang="en-GB">
                <a:solidFill>
                  <a:schemeClr val="dk1"/>
                </a:solidFill>
                <a:latin typeface="Poppins" panose="00000500000000000000"/>
                <a:ea typeface="Poppins" panose="00000500000000000000"/>
                <a:cs typeface="Poppins" panose="00000500000000000000"/>
                <a:sym typeface="Poppins" panose="00000500000000000000"/>
              </a:rPr>
              <a:t>Team leader name - </a:t>
            </a:r>
            <a:endParaRPr>
              <a:solidFill>
                <a:schemeClr val="dk1"/>
              </a:solidFill>
              <a:latin typeface="Poppins" panose="00000500000000000000"/>
              <a:ea typeface="Poppins" panose="00000500000000000000"/>
              <a:cs typeface="Poppins" panose="00000500000000000000"/>
              <a:sym typeface="Poppins" panose="00000500000000000000"/>
            </a:endParaRPr>
          </a:p>
          <a:p>
            <a:pPr marL="457200" lvl="0" indent="-317500" algn="l" rtl="0">
              <a:lnSpc>
                <a:spcPct val="115000"/>
              </a:lnSpc>
              <a:spcBef>
                <a:spcPts val="0"/>
              </a:spcBef>
              <a:spcAft>
                <a:spcPts val="0"/>
              </a:spcAft>
              <a:buClr>
                <a:schemeClr val="dk1"/>
              </a:buClr>
              <a:buSzPts val="1400"/>
              <a:buFont typeface="Poppins" panose="00000500000000000000"/>
              <a:buChar char="➔"/>
            </a:pPr>
            <a:r>
              <a:rPr lang="en-GB">
                <a:solidFill>
                  <a:schemeClr val="dk1"/>
                </a:solidFill>
                <a:latin typeface="Poppins" panose="00000500000000000000"/>
                <a:ea typeface="Poppins" panose="00000500000000000000"/>
                <a:cs typeface="Poppins" panose="00000500000000000000"/>
                <a:sym typeface="Poppins" panose="00000500000000000000"/>
              </a:rPr>
              <a:t>Problem Statement - </a:t>
            </a:r>
            <a:endParaRPr lang="en-GB">
              <a:solidFill>
                <a:schemeClr val="dk1"/>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2" name="Shape 62"/>
        <p:cNvGrpSpPr/>
        <p:nvPr/>
      </p:nvGrpSpPr>
      <p:grpSpPr>
        <a:xfrm>
          <a:off x="0" y="0"/>
          <a:ext cx="0" cy="0"/>
          <a:chOff x="0" y="0"/>
          <a:chExt cx="0" cy="0"/>
        </a:xfrm>
      </p:grpSpPr>
      <p:sp>
        <p:nvSpPr>
          <p:cNvPr id="63" name="Google Shape;63;p14"/>
          <p:cNvSpPr txBox="1"/>
          <p:nvPr>
            <p:ph type="ctrTitle"/>
          </p:nvPr>
        </p:nvSpPr>
        <p:spPr>
          <a:xfrm>
            <a:off x="258360" y="743940"/>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Brief about the idea</a:t>
            </a:r>
            <a:endParaRPr sz="1620" b="1">
              <a:latin typeface="Poppins" panose="00000500000000000000"/>
              <a:ea typeface="Poppins" panose="00000500000000000000"/>
              <a:cs typeface="Poppins" panose="00000500000000000000"/>
              <a:sym typeface="Poppins" panose="00000500000000000000"/>
            </a:endParaRPr>
          </a:p>
        </p:txBody>
      </p:sp>
      <p:sp>
        <p:nvSpPr>
          <p:cNvPr id="64" name="Google Shape;64;p14"/>
          <p:cNvSpPr txBox="1"/>
          <p:nvPr>
            <p:ph type="subTitle" idx="1"/>
          </p:nvPr>
        </p:nvSpPr>
        <p:spPr>
          <a:xfrm>
            <a:off x="78105" y="1116965"/>
            <a:ext cx="8980170" cy="38773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sz="1100" b="1">
                <a:solidFill>
                  <a:schemeClr val="tx1"/>
                </a:solidFill>
                <a:latin typeface="Poppins" panose="00000500000000000000"/>
                <a:ea typeface="Poppins" panose="00000500000000000000"/>
                <a:cs typeface="Poppins" panose="00000500000000000000"/>
                <a:sym typeface="Poppins" panose="00000500000000000000"/>
              </a:rPr>
              <a:t>The Problem:</a:t>
            </a:r>
            <a:r>
              <a:rPr lang="en-US" altLang="en-US" sz="1100">
                <a:solidFill>
                  <a:schemeClr val="tx1"/>
                </a:solidFill>
                <a:latin typeface="Poppins" panose="00000500000000000000"/>
                <a:ea typeface="Poppins" panose="00000500000000000000"/>
                <a:cs typeface="Poppins" panose="00000500000000000000"/>
                <a:sym typeface="Poppins" panose="00000500000000000000"/>
              </a:rPr>
              <a:t> Individuals experiencing acute emotional distress (like sudden job loss, grief, or severe isolation) face high barriers to immediate, stigma-free support. Existing AI chatbots often fail by offering unsolicited, robotic advice rather than genuine empathy, while professional help can be inaccessible in the moment of crisis.</a:t>
            </a: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100" b="1">
                <a:solidFill>
                  <a:schemeClr val="tx1"/>
                </a:solidFill>
                <a:latin typeface="Poppins" panose="00000500000000000000"/>
                <a:ea typeface="Poppins" panose="00000500000000000000"/>
                <a:cs typeface="Poppins" panose="00000500000000000000"/>
                <a:sym typeface="Poppins" panose="00000500000000000000"/>
              </a:rPr>
              <a:t>Our Solution:</a:t>
            </a:r>
            <a:r>
              <a:rPr lang="en-US" altLang="en-US" sz="1100">
                <a:solidFill>
                  <a:schemeClr val="tx1"/>
                </a:solidFill>
                <a:latin typeface="Poppins" panose="00000500000000000000"/>
                <a:ea typeface="Poppins" panose="00000500000000000000"/>
                <a:cs typeface="Poppins" panose="00000500000000000000"/>
                <a:sym typeface="Poppins" panose="00000500000000000000"/>
              </a:rPr>
              <a:t> Kalpana AI Kalpana is a privacy-first, AI-driven mental health companion and intelligent peer-matchmaking platform.</a:t>
            </a: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100" b="1">
                <a:solidFill>
                  <a:schemeClr val="tx1"/>
                </a:solidFill>
                <a:latin typeface="Poppins" panose="00000500000000000000"/>
                <a:ea typeface="Poppins" panose="00000500000000000000"/>
                <a:cs typeface="Poppins" panose="00000500000000000000"/>
                <a:sym typeface="Poppins" panose="00000500000000000000"/>
              </a:rPr>
              <a:t>How it Works (The Core Loop):</a:t>
            </a:r>
            <a:endParaRPr lang="en-US" altLang="en-US" sz="1100" b="1">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100">
                <a:latin typeface="Poppins" panose="00000500000000000000"/>
                <a:ea typeface="Poppins" panose="00000500000000000000"/>
                <a:cs typeface="Poppins" panose="00000500000000000000"/>
                <a:sym typeface="Poppins" panose="00000500000000000000"/>
              </a:rPr>
              <a:t>-&gt;</a:t>
            </a:r>
            <a:r>
              <a:rPr lang="en-US" altLang="en-US" sz="1100">
                <a:solidFill>
                  <a:schemeClr val="tx1"/>
                </a:solidFill>
                <a:latin typeface="Poppins" panose="00000500000000000000"/>
                <a:ea typeface="Poppins" panose="00000500000000000000"/>
                <a:cs typeface="Poppins" panose="00000500000000000000"/>
                <a:sym typeface="Poppins" panose="00000500000000000000"/>
              </a:rPr>
              <a:t>Advice-Free Empathy: Kalpana provides a safe, grounded space for users to vent, using phase-based listening tailored purely to validate their feelings—never to "fix" them.</a:t>
            </a: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100">
                <a:latin typeface="Poppins" panose="00000500000000000000"/>
                <a:ea typeface="Poppins" panose="00000500000000000000"/>
                <a:cs typeface="Poppins" panose="00000500000000000000"/>
                <a:sym typeface="Poppins" panose="00000500000000000000"/>
              </a:rPr>
              <a:t>-&gt;</a:t>
            </a:r>
            <a:r>
              <a:rPr lang="en-US" altLang="en-US" sz="1100">
                <a:solidFill>
                  <a:schemeClr val="tx1"/>
                </a:solidFill>
                <a:latin typeface="Poppins" panose="00000500000000000000"/>
                <a:ea typeface="Poppins" panose="00000500000000000000"/>
                <a:cs typeface="Poppins" panose="00000500000000000000"/>
                <a:sym typeface="Poppins" panose="00000500000000000000"/>
              </a:rPr>
              <a:t>Invisible Clinical Analysis: In the background, a secondary AI agent continuously maps the conversation, acting as a clinical psychologist to silently assess risk levels, self-harm indicators, and the underlying root cause of the distress.</a:t>
            </a: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100">
                <a:latin typeface="Poppins" panose="00000500000000000000"/>
                <a:ea typeface="Poppins" panose="00000500000000000000"/>
                <a:cs typeface="Poppins" panose="00000500000000000000"/>
                <a:sym typeface="Poppins" panose="00000500000000000000"/>
              </a:rPr>
              <a:t>-&gt;</a:t>
            </a:r>
            <a:r>
              <a:rPr lang="en-US" altLang="en-US" sz="1100">
                <a:solidFill>
                  <a:schemeClr val="tx1"/>
                </a:solidFill>
                <a:latin typeface="Poppins" panose="00000500000000000000"/>
                <a:ea typeface="Poppins" panose="00000500000000000000"/>
                <a:cs typeface="Poppins" panose="00000500000000000000"/>
                <a:sym typeface="Poppins" panose="00000500000000000000"/>
              </a:rPr>
              <a:t>Semantic Peer Matchmaking: Once the system isolates a specific life event (e.g., "Bereavement") and a moderate risk threshold is met, Kalpana automatically connects the user with an anonymous peer who has survived the exact same experience.</a:t>
            </a: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100">
                <a:latin typeface="Poppins" panose="00000500000000000000"/>
                <a:ea typeface="Poppins" panose="00000500000000000000"/>
                <a:cs typeface="Poppins" panose="00000500000000000000"/>
                <a:sym typeface="Poppins" panose="00000500000000000000"/>
              </a:rPr>
              <a:t>-&gt;</a:t>
            </a:r>
            <a:r>
              <a:rPr lang="en-US" altLang="en-US" sz="1100">
                <a:solidFill>
                  <a:schemeClr val="tx1"/>
                </a:solidFill>
                <a:latin typeface="Poppins" panose="00000500000000000000"/>
                <a:ea typeface="Poppins" panose="00000500000000000000"/>
                <a:cs typeface="Poppins" panose="00000500000000000000"/>
                <a:sym typeface="Poppins" panose="00000500000000000000"/>
              </a:rPr>
              <a:t>The Vision: To create an ecosystem where AI doesn't try to replace human connection, but rather acts as a compassionate bridge—providing immediate stabilization and then routing users to the profound healing of shared human experience.</a:t>
            </a:r>
            <a:endParaRPr lang="en-US" altLang="en-US" sz="1100">
              <a:solidFill>
                <a:schemeClr val="tx1"/>
              </a:solidFill>
              <a:latin typeface="Poppins" panose="00000500000000000000"/>
              <a:ea typeface="Poppins" panose="00000500000000000000"/>
              <a:cs typeface="Poppins" panose="00000500000000000000"/>
              <a:sym typeface="Poppins" panose="00000500000000000000"/>
            </a:endParaRPr>
          </a:p>
        </p:txBody>
      </p:sp>
      <p:pic>
        <p:nvPicPr>
          <p:cNvPr id="65" name="Google Shape;65;p14"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66" name="Google Shape;66;p14"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0" name="Shape 70"/>
        <p:cNvGrpSpPr/>
        <p:nvPr/>
      </p:nvGrpSpPr>
      <p:grpSpPr>
        <a:xfrm>
          <a:off x="0" y="0"/>
          <a:ext cx="0" cy="0"/>
          <a:chOff x="0" y="0"/>
          <a:chExt cx="0" cy="0"/>
        </a:xfrm>
      </p:grpSpPr>
      <p:sp>
        <p:nvSpPr>
          <p:cNvPr id="71" name="Google Shape;71;p15"/>
          <p:cNvSpPr txBox="1"/>
          <p:nvPr>
            <p:ph type="ctrTitle"/>
          </p:nvPr>
        </p:nvSpPr>
        <p:spPr>
          <a:xfrm>
            <a:off x="78655" y="595350"/>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Opportunities</a:t>
            </a:r>
            <a:endParaRPr sz="1620" b="1">
              <a:latin typeface="Poppins" panose="00000500000000000000"/>
              <a:ea typeface="Poppins" panose="00000500000000000000"/>
              <a:cs typeface="Poppins" panose="00000500000000000000"/>
              <a:sym typeface="Poppins" panose="00000500000000000000"/>
            </a:endParaRPr>
          </a:p>
        </p:txBody>
      </p:sp>
      <p:sp>
        <p:nvSpPr>
          <p:cNvPr id="72" name="Google Shape;72;p15"/>
          <p:cNvSpPr txBox="1"/>
          <p:nvPr>
            <p:ph type="subTitle" idx="1"/>
          </p:nvPr>
        </p:nvSpPr>
        <p:spPr>
          <a:xfrm>
            <a:off x="78105" y="951230"/>
            <a:ext cx="8953500" cy="4403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sz="900" b="1">
                <a:latin typeface="Poppins" panose="00000500000000000000"/>
                <a:ea typeface="Poppins" panose="00000500000000000000"/>
                <a:cs typeface="Poppins" panose="00000500000000000000"/>
                <a:sym typeface="Poppins" panose="00000500000000000000"/>
              </a:rPr>
              <a:t>How is Kalpana different from existing ideas?</a:t>
            </a:r>
            <a:endParaRPr lang="en-US" altLang="en-US" sz="9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Most chatbots (e.g., Woebot, ChatGPT): Rush to "fix" the problem, offering generic, robotic advice that makes users feel unheard and pathologized.</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Most human therapy platforms (e.g., BetterHelp): Are prohibitively expensive, require scheduling, and lack immediate crisis intervention</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Kalpana’s Difference: Kalpana acts strictly as a safe venting ground. It explicitly avoids giving unsolicited advice, instead offering grounded, phase-based empathy (Explore → Probe → Process) that matches human-level active listening, while running clinical diagnostics invisibly in the background.</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900" b="1">
                <a:latin typeface="Poppins" panose="00000500000000000000"/>
                <a:ea typeface="Poppins" panose="00000500000000000000"/>
                <a:cs typeface="Poppins" panose="00000500000000000000"/>
                <a:sym typeface="Poppins" panose="00000500000000000000"/>
              </a:rPr>
              <a:t>How will Kalpana solve the problem?</a:t>
            </a:r>
            <a:endParaRPr lang="en-US" altLang="en-US" sz="9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Immediate Stabilization: Users receive zero-latency emotional support the exact moment they need it, lowering their immediate distress baseline (Risk Score mitigation).</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Automated Human Crux: Once stabilized, Kalpana solves the "loneliness epidemic" by using semantic vector search (Pinecone) to match the user's specific root cause (e.g., "Job Loss") with an anonymous peer who survived the exact same experience, closing the loop with shared human healing.</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900" b="1">
                <a:latin typeface="Poppins" panose="00000500000000000000"/>
                <a:ea typeface="Poppins" panose="00000500000000000000"/>
                <a:cs typeface="Poppins" panose="00000500000000000000"/>
                <a:sym typeface="Poppins" panose="00000500000000000000"/>
              </a:rPr>
              <a:t>Unique Selling Proposition (USP) of the Proposed Solution</a:t>
            </a:r>
            <a:endParaRPr lang="en-US" altLang="en-US" sz="9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Dual-Agent Architecture: A friendly "Listener Agent" interacts with the user, while a separated "Mapper Agent" acts as a silent Clinical Psychologist to dynamically extract intent, self-harm risk (1-10), and primary emotions.</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State-Locking Analysis: Kalpana intelligently isolates the single external life event causing distress (the "Root Cause") early in the conversation and locks its state, preventing the AI from losing context over long sessions.</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Explainable AI (XAI): The Clinical Mapper provides deterministic summaries detailing exactly why a risk score was assigned, ensuring systemic transparency and safety.</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900">
                <a:latin typeface="Poppins" panose="00000500000000000000"/>
                <a:ea typeface="Poppins" panose="00000500000000000000"/>
                <a:cs typeface="Poppins" panose="00000500000000000000"/>
                <a:sym typeface="Poppins" panose="00000500000000000000"/>
              </a:rPr>
              <a:t>-&gt;</a:t>
            </a:r>
            <a:r>
              <a:rPr lang="en-US" altLang="en-US" sz="900">
                <a:latin typeface="Poppins" panose="00000500000000000000"/>
                <a:ea typeface="Poppins" panose="00000500000000000000"/>
                <a:cs typeface="Poppins" panose="00000500000000000000"/>
                <a:sym typeface="Poppins" panose="00000500000000000000"/>
              </a:rPr>
              <a:t>Absolute Privacy: Powered by local Large Language Models (LLMs) via Ollama, guaranteeing that highly sensitive emotional data never leaves the user’s device or secure environment.</a:t>
            </a:r>
            <a:endParaRPr lang="en-US" altLang="en-US" sz="9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0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0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600">
              <a:latin typeface="Poppins" panose="00000500000000000000"/>
              <a:ea typeface="Poppins" panose="00000500000000000000"/>
              <a:cs typeface="Poppins" panose="00000500000000000000"/>
              <a:sym typeface="Poppins" panose="00000500000000000000"/>
            </a:endParaRPr>
          </a:p>
        </p:txBody>
      </p:sp>
      <p:pic>
        <p:nvPicPr>
          <p:cNvPr id="74" name="Google Shape;74;p15"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75" name="Google Shape;75;p15"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9" name="Shape 79"/>
        <p:cNvGrpSpPr/>
        <p:nvPr/>
      </p:nvGrpSpPr>
      <p:grpSpPr>
        <a:xfrm>
          <a:off x="0" y="0"/>
          <a:ext cx="0" cy="0"/>
          <a:chOff x="0" y="0"/>
          <a:chExt cx="0" cy="0"/>
        </a:xfrm>
      </p:grpSpPr>
      <p:sp>
        <p:nvSpPr>
          <p:cNvPr id="80" name="Google Shape;80;p16"/>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List of features offered by the solution</a:t>
            </a:r>
            <a:endParaRPr sz="1620" b="1">
              <a:latin typeface="Poppins" panose="00000500000000000000"/>
              <a:ea typeface="Poppins" panose="00000500000000000000"/>
              <a:cs typeface="Poppins" panose="00000500000000000000"/>
              <a:sym typeface="Poppins" panose="00000500000000000000"/>
            </a:endParaRPr>
          </a:p>
        </p:txBody>
      </p:sp>
      <p:sp>
        <p:nvSpPr>
          <p:cNvPr id="81" name="Google Shape;81;p16"/>
          <p:cNvSpPr txBox="1"/>
          <p:nvPr>
            <p:ph type="subTitle" idx="1"/>
          </p:nvPr>
        </p:nvSpPr>
        <p:spPr>
          <a:xfrm>
            <a:off x="311785" y="1249680"/>
            <a:ext cx="8733790" cy="3750310"/>
          </a:xfrm>
          <a:prstGeom prst="rect">
            <a:avLst/>
          </a:prstGeom>
        </p:spPr>
        <p:txBody>
          <a:bodyPr spcFirstLastPara="1" wrap="square" lIns="91425" tIns="91425" rIns="91425" bIns="91425" anchor="t" anchorCtr="0">
            <a:normAutofit fontScale="90000" lnSpcReduction="20000"/>
          </a:bodyPr>
          <a:lstStyle/>
          <a:p>
            <a:pPr marL="0" lvl="0" indent="0" algn="l" rtl="0">
              <a:spcBef>
                <a:spcPts val="0"/>
              </a:spcBef>
              <a:spcAft>
                <a:spcPts val="0"/>
              </a:spcAft>
              <a:buNone/>
            </a:pPr>
            <a:r>
              <a:rPr lang="en-US" altLang="en-US" sz="1300" b="1">
                <a:latin typeface="Poppins" panose="00000500000000000000"/>
                <a:ea typeface="Poppins" panose="00000500000000000000"/>
                <a:cs typeface="Poppins" panose="00000500000000000000"/>
                <a:sym typeface="Poppins" panose="00000500000000000000"/>
              </a:rPr>
              <a:t>Core Functionality:</a:t>
            </a:r>
            <a:endParaRPr lang="en-US" altLang="en-US" sz="13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Advice-Free Empathic Chat interface: A completely non-judgmental conversational space optimized for validating feelings rather than fixing them.</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Real-time Clinical Profiling: Background analysis that continuously calculates a 1-10 Risk Score and detects primary emotions on the fly.</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Automated Semantic Matchmaking: An intelligent routing system that finds and proposes anonymous real-world peers who have survived the exact same life-event root cause.</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b="1">
                <a:latin typeface="Poppins" panose="00000500000000000000"/>
                <a:ea typeface="Poppins" panose="00000500000000000000"/>
                <a:cs typeface="Poppins" panose="00000500000000000000"/>
                <a:sym typeface="Poppins" panose="00000500000000000000"/>
              </a:rPr>
              <a:t>Advanced Technical Features:</a:t>
            </a:r>
            <a:endParaRPr lang="en-US" altLang="en-US" sz="13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Dual-Agent Processing: Decoupled LLM orchestration where ministral-3:3b handles fast, empathetic dialogue, and gemma3:4b executes heavy clinical mapping simultaneously.</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Explainable AI (XAI) Logging: The generation of deterministic clinical_summary records that explicitly justify the AI's diagnostic reasoning and risk assignment.</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Context State-Locking: The ability of the Mapper Agent to isolate and lock the underlying "Root Cause" of distress early in a session, preventing context loss over extended chats.</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IN" altLang="en-US" sz="1300">
                <a:latin typeface="Poppins" panose="00000500000000000000"/>
                <a:ea typeface="Poppins" panose="00000500000000000000"/>
                <a:cs typeface="Poppins" panose="00000500000000000000"/>
                <a:sym typeface="Poppins" panose="00000500000000000000"/>
              </a:rPr>
              <a:t>-&gt;</a:t>
            </a:r>
            <a:r>
              <a:rPr lang="en-US" altLang="en-US" sz="1300">
                <a:latin typeface="Poppins" panose="00000500000000000000"/>
                <a:ea typeface="Poppins" panose="00000500000000000000"/>
                <a:cs typeface="Poppins" panose="00000500000000000000"/>
                <a:sym typeface="Poppins" panose="00000500000000000000"/>
              </a:rPr>
              <a:t>Self-Harm &amp; Safety Escalation: Immediate detection of explicit or implied critical risk indicators, triggering automated localized escalation (e.g., routing to the Tele-MANAS hotline).</a:t>
            </a:r>
            <a:endParaRPr lang="en-US" altLang="en-US" sz="1300">
              <a:latin typeface="Poppins" panose="00000500000000000000"/>
              <a:ea typeface="Poppins" panose="00000500000000000000"/>
              <a:cs typeface="Poppins" panose="00000500000000000000"/>
              <a:sym typeface="Poppins" panose="00000500000000000000"/>
            </a:endParaRPr>
          </a:p>
        </p:txBody>
      </p:sp>
      <p:pic>
        <p:nvPicPr>
          <p:cNvPr id="82" name="Google Shape;82;p16"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83" name="Google Shape;83;p16"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17"/>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Process flow diagram or Use-case diagram</a:t>
            </a:r>
            <a:endParaRPr sz="1620" b="1">
              <a:latin typeface="Poppins" panose="00000500000000000000"/>
              <a:ea typeface="Poppins" panose="00000500000000000000"/>
              <a:cs typeface="Poppins" panose="00000500000000000000"/>
              <a:sym typeface="Poppins" panose="00000500000000000000"/>
            </a:endParaRPr>
          </a:p>
        </p:txBody>
      </p:sp>
      <p:sp>
        <p:nvSpPr>
          <p:cNvPr id="89" name="Google Shape;89;p17"/>
          <p:cNvSpPr txBox="1"/>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panose="00000500000000000000"/>
                <a:ea typeface="Poppins" panose="00000500000000000000"/>
                <a:cs typeface="Poppins" panose="00000500000000000000"/>
                <a:sym typeface="Poppins" panose="00000500000000000000"/>
              </a:rPr>
              <a:t>Type here</a:t>
            </a:r>
            <a:endParaRPr sz="1300">
              <a:latin typeface="Poppins" panose="00000500000000000000"/>
              <a:ea typeface="Poppins" panose="00000500000000000000"/>
              <a:cs typeface="Poppins" panose="00000500000000000000"/>
              <a:sym typeface="Poppins" panose="00000500000000000000"/>
            </a:endParaRPr>
          </a:p>
        </p:txBody>
      </p:sp>
      <p:pic>
        <p:nvPicPr>
          <p:cNvPr id="90" name="Google Shape;90;p17"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91" name="Google Shape;91;p17"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19"/>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Architecture diagram of the proposed solution</a:t>
            </a:r>
            <a:endParaRPr sz="1620" b="1">
              <a:latin typeface="Poppins" panose="00000500000000000000"/>
              <a:ea typeface="Poppins" panose="00000500000000000000"/>
              <a:cs typeface="Poppins" panose="00000500000000000000"/>
              <a:sym typeface="Poppins" panose="00000500000000000000"/>
            </a:endParaRPr>
          </a:p>
        </p:txBody>
      </p:sp>
      <p:sp>
        <p:nvSpPr>
          <p:cNvPr id="105" name="Google Shape;105;p19"/>
          <p:cNvSpPr txBox="1"/>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panose="00000500000000000000"/>
                <a:ea typeface="Poppins" panose="00000500000000000000"/>
                <a:cs typeface="Poppins" panose="00000500000000000000"/>
                <a:sym typeface="Poppins" panose="00000500000000000000"/>
              </a:rPr>
              <a:t>Type here</a:t>
            </a:r>
            <a:endParaRPr sz="1300">
              <a:latin typeface="Poppins" panose="00000500000000000000"/>
              <a:ea typeface="Poppins" panose="00000500000000000000"/>
              <a:cs typeface="Poppins" panose="00000500000000000000"/>
              <a:sym typeface="Poppins" panose="00000500000000000000"/>
            </a:endParaRPr>
          </a:p>
        </p:txBody>
      </p:sp>
      <p:pic>
        <p:nvPicPr>
          <p:cNvPr id="106" name="Google Shape;106;p19"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07" name="Google Shape;107;p19"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20"/>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Technologies to be used in the solution</a:t>
            </a:r>
            <a:endParaRPr sz="1620" b="1">
              <a:latin typeface="Poppins" panose="00000500000000000000"/>
              <a:ea typeface="Poppins" panose="00000500000000000000"/>
              <a:cs typeface="Poppins" panose="00000500000000000000"/>
              <a:sym typeface="Poppins" panose="00000500000000000000"/>
            </a:endParaRPr>
          </a:p>
        </p:txBody>
      </p:sp>
      <p:sp>
        <p:nvSpPr>
          <p:cNvPr id="113" name="Google Shape;113;p20"/>
          <p:cNvSpPr txBox="1"/>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ltLang="en-US" sz="1300" b="1">
                <a:latin typeface="Poppins" panose="00000500000000000000"/>
                <a:ea typeface="Poppins" panose="00000500000000000000"/>
                <a:cs typeface="Poppins" panose="00000500000000000000"/>
                <a:sym typeface="Poppins" panose="00000500000000000000"/>
              </a:rPr>
              <a:t>AI &amp; Machine Learning Infrastructure:</a:t>
            </a:r>
            <a:endParaRPr lang="en-US" altLang="en-US" sz="13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Local LLMs via Ollama: Ensuring absolute user privacy and zero data leakage.</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Ministral-3:3b (CPU-allocated): Drives the fast, empathetic Conversational Listener.</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Gemma3:4b (GPU-allocated): Drives the heavy-lifting Clinical Mapper for background analysis.</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LangChain: Orchestrating complex logic between the Listener and Mapper agents, managing conversation history, and handling phase transitions.</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b="1">
                <a:latin typeface="Poppins" panose="00000500000000000000"/>
                <a:ea typeface="Poppins" panose="00000500000000000000"/>
                <a:cs typeface="Poppins" panose="00000500000000000000"/>
                <a:sym typeface="Poppins" panose="00000500000000000000"/>
              </a:rPr>
              <a:t>Vector Search &amp; Matchmaking Engine:</a:t>
            </a:r>
            <a:endParaRPr lang="en-US" altLang="en-US" sz="1300" b="1">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Pinecone DB: High-performance, scalable vector database used to store and retrieve peer profiles.</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Hugging Face Transformers (sentence-transformers): Generating dense text embeddings of psychological root causes to semantically match distressed users with appropriate peers.</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Backend Architecture:</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altLang="en-US" sz="1300">
                <a:latin typeface="Poppins" panose="00000500000000000000"/>
                <a:ea typeface="Poppins" panose="00000500000000000000"/>
                <a:cs typeface="Poppins" panose="00000500000000000000"/>
                <a:sym typeface="Poppins" panose="00000500000000000000"/>
              </a:rPr>
              <a:t>Python: The core runtime for AI agent logic.</a:t>
            </a:r>
            <a:endParaRPr lang="en-US" altLang="en-US" sz="1300">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endParaRPr lang="en-US" altLang="en-US" sz="1300">
              <a:latin typeface="Poppins" panose="00000500000000000000"/>
              <a:ea typeface="Poppins" panose="00000500000000000000"/>
              <a:cs typeface="Poppins" panose="00000500000000000000"/>
              <a:sym typeface="Poppins" panose="00000500000000000000"/>
            </a:endParaRPr>
          </a:p>
        </p:txBody>
      </p:sp>
      <p:pic>
        <p:nvPicPr>
          <p:cNvPr id="114" name="Google Shape;114;p20"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15" name="Google Shape;115;p20"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21"/>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Usage of AMD Products/Solutions</a:t>
            </a:r>
            <a:endParaRPr sz="1620" b="1">
              <a:latin typeface="Poppins" panose="00000500000000000000"/>
              <a:ea typeface="Poppins" panose="00000500000000000000"/>
              <a:cs typeface="Poppins" panose="00000500000000000000"/>
              <a:sym typeface="Poppins" panose="00000500000000000000"/>
            </a:endParaRPr>
          </a:p>
        </p:txBody>
      </p:sp>
      <p:sp>
        <p:nvSpPr>
          <p:cNvPr id="121" name="Google Shape;121;p21"/>
          <p:cNvSpPr txBox="1"/>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panose="00000500000000000000"/>
                <a:ea typeface="Poppins" panose="00000500000000000000"/>
                <a:cs typeface="Poppins" panose="00000500000000000000"/>
                <a:sym typeface="Poppins" panose="00000500000000000000"/>
              </a:rPr>
              <a:t>Type here</a:t>
            </a:r>
            <a:endParaRPr sz="1300">
              <a:latin typeface="Poppins" panose="00000500000000000000"/>
              <a:ea typeface="Poppins" panose="00000500000000000000"/>
              <a:cs typeface="Poppins" panose="00000500000000000000"/>
              <a:sym typeface="Poppins" panose="00000500000000000000"/>
            </a:endParaRPr>
          </a:p>
        </p:txBody>
      </p:sp>
      <p:pic>
        <p:nvPicPr>
          <p:cNvPr id="122" name="Google Shape;122;p21"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23" name="Google Shape;123;p21"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7" name="Shape 127"/>
        <p:cNvGrpSpPr/>
        <p:nvPr/>
      </p:nvGrpSpPr>
      <p:grpSpPr>
        <a:xfrm>
          <a:off x="0" y="0"/>
          <a:ext cx="0" cy="0"/>
          <a:chOff x="0" y="0"/>
          <a:chExt cx="0" cy="0"/>
        </a:xfrm>
      </p:grpSpPr>
      <p:sp>
        <p:nvSpPr>
          <p:cNvPr id="128" name="Google Shape;128;p22"/>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Estimated implementation cost (optional)</a:t>
            </a:r>
            <a:endParaRPr sz="1620" b="1">
              <a:latin typeface="Poppins" panose="00000500000000000000"/>
              <a:ea typeface="Poppins" panose="00000500000000000000"/>
              <a:cs typeface="Poppins" panose="00000500000000000000"/>
              <a:sym typeface="Poppins" panose="00000500000000000000"/>
            </a:endParaRPr>
          </a:p>
        </p:txBody>
      </p:sp>
      <p:sp>
        <p:nvSpPr>
          <p:cNvPr id="129" name="Google Shape;129;p22"/>
          <p:cNvSpPr txBox="1"/>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panose="00000500000000000000"/>
                <a:ea typeface="Poppins" panose="00000500000000000000"/>
                <a:cs typeface="Poppins" panose="00000500000000000000"/>
                <a:sym typeface="Poppins" panose="00000500000000000000"/>
              </a:rPr>
              <a:t>Type here</a:t>
            </a:r>
            <a:endParaRPr sz="1300">
              <a:latin typeface="Poppins" panose="00000500000000000000"/>
              <a:ea typeface="Poppins" panose="00000500000000000000"/>
              <a:cs typeface="Poppins" panose="00000500000000000000"/>
              <a:sym typeface="Poppins" panose="00000500000000000000"/>
            </a:endParaRPr>
          </a:p>
        </p:txBody>
      </p:sp>
      <p:pic>
        <p:nvPicPr>
          <p:cNvPr id="130" name="Google Shape;130;p22"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31" name="Google Shape;131;p22"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sp>
        <p:nvSpPr>
          <p:cNvPr id="136" name="Google Shape;136;p23"/>
          <p:cNvSpPr txBox="1"/>
          <p:nvPr>
            <p:ph type="subTitle" idx="1"/>
          </p:nvPr>
        </p:nvSpPr>
        <p:spPr>
          <a:xfrm>
            <a:off x="311700" y="1926000"/>
            <a:ext cx="8520600" cy="2848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panose="00000500000000000000"/>
                <a:ea typeface="Poppins" panose="00000500000000000000"/>
                <a:cs typeface="Poppins" panose="00000500000000000000"/>
                <a:sym typeface="Poppins" panose="00000500000000000000"/>
              </a:rPr>
              <a:t>Type here</a:t>
            </a:r>
            <a:endParaRPr sz="1300">
              <a:latin typeface="Poppins" panose="00000500000000000000"/>
              <a:ea typeface="Poppins" panose="00000500000000000000"/>
              <a:cs typeface="Poppins" panose="00000500000000000000"/>
              <a:sym typeface="Poppins" panose="00000500000000000000"/>
            </a:endParaRPr>
          </a:p>
        </p:txBody>
      </p:sp>
      <p:sp>
        <p:nvSpPr>
          <p:cNvPr id="137" name="Google Shape;137;p23"/>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Prototype Assets (Optional)</a:t>
            </a:r>
            <a:endParaRPr sz="1620" b="1">
              <a:latin typeface="Poppins" panose="00000500000000000000"/>
              <a:ea typeface="Poppins" panose="00000500000000000000"/>
              <a:cs typeface="Poppins" panose="00000500000000000000"/>
              <a:sym typeface="Poppins" panose="00000500000000000000"/>
            </a:endParaRPr>
          </a:p>
        </p:txBody>
      </p:sp>
      <p:sp>
        <p:nvSpPr>
          <p:cNvPr id="138" name="Google Shape;138;p23"/>
          <p:cNvSpPr txBox="1"/>
          <p:nvPr/>
        </p:nvSpPr>
        <p:spPr>
          <a:xfrm>
            <a:off x="311700" y="1192175"/>
            <a:ext cx="85206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panose="00000500000000000000"/>
              <a:buChar char="➔"/>
            </a:pPr>
            <a:r>
              <a:rPr lang="en-GB">
                <a:solidFill>
                  <a:schemeClr val="dk1"/>
                </a:solidFill>
                <a:latin typeface="Poppins" panose="00000500000000000000"/>
                <a:ea typeface="Poppins" panose="00000500000000000000"/>
                <a:cs typeface="Poppins" panose="00000500000000000000"/>
                <a:sym typeface="Poppins" panose="00000500000000000000"/>
              </a:rPr>
              <a:t>GitHub Public Repository Link</a:t>
            </a:r>
            <a:endParaRPr>
              <a:solidFill>
                <a:schemeClr val="dk1"/>
              </a:solidFill>
              <a:latin typeface="Poppins" panose="00000500000000000000"/>
              <a:ea typeface="Poppins" panose="00000500000000000000"/>
              <a:cs typeface="Poppins" panose="00000500000000000000"/>
              <a:sym typeface="Poppins" panose="00000500000000000000"/>
            </a:endParaRPr>
          </a:p>
          <a:p>
            <a:pPr marL="457200" lvl="0" indent="-317500" algn="l" rtl="0">
              <a:lnSpc>
                <a:spcPct val="115000"/>
              </a:lnSpc>
              <a:spcBef>
                <a:spcPts val="0"/>
              </a:spcBef>
              <a:spcAft>
                <a:spcPts val="0"/>
              </a:spcAft>
              <a:buClr>
                <a:schemeClr val="dk1"/>
              </a:buClr>
              <a:buSzPts val="1400"/>
              <a:buFont typeface="Poppins" panose="00000500000000000000"/>
              <a:buChar char="➔"/>
            </a:pPr>
            <a:r>
              <a:rPr lang="en-GB">
                <a:solidFill>
                  <a:schemeClr val="dk1"/>
                </a:solidFill>
                <a:latin typeface="Poppins" panose="00000500000000000000"/>
                <a:ea typeface="Poppins" panose="00000500000000000000"/>
                <a:cs typeface="Poppins" panose="00000500000000000000"/>
                <a:sym typeface="Poppins" panose="00000500000000000000"/>
              </a:rPr>
              <a:t>Demo Video Link (Max: 3 Minutes)</a:t>
            </a:r>
            <a:endParaRPr lang="en-GB">
              <a:solidFill>
                <a:schemeClr val="dk1"/>
              </a:solidFill>
              <a:latin typeface="Poppins" panose="00000500000000000000"/>
              <a:ea typeface="Poppins" panose="00000500000000000000"/>
              <a:cs typeface="Poppins" panose="00000500000000000000"/>
              <a:sym typeface="Poppins" panose="00000500000000000000"/>
            </a:endParaRPr>
          </a:p>
        </p:txBody>
      </p:sp>
      <p:pic>
        <p:nvPicPr>
          <p:cNvPr id="139" name="Google Shape;139;p23"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40" name="Google Shape;140;p23"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24"/>
          <p:cNvSpPr txBox="1"/>
          <p:nvPr>
            <p:ph type="subTitle" idx="1"/>
          </p:nvPr>
        </p:nvSpPr>
        <p:spPr>
          <a:xfrm>
            <a:off x="311700" y="1285750"/>
            <a:ext cx="8520600" cy="348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a:latin typeface="Poppins" panose="00000500000000000000"/>
                <a:ea typeface="Poppins" panose="00000500000000000000"/>
                <a:cs typeface="Poppins" panose="00000500000000000000"/>
                <a:sym typeface="Poppins" panose="00000500000000000000"/>
              </a:rPr>
              <a:t>Type here</a:t>
            </a:r>
            <a:endParaRPr sz="1300">
              <a:latin typeface="Poppins" panose="00000500000000000000"/>
              <a:ea typeface="Poppins" panose="00000500000000000000"/>
              <a:cs typeface="Poppins" panose="00000500000000000000"/>
              <a:sym typeface="Poppins" panose="00000500000000000000"/>
            </a:endParaRPr>
          </a:p>
        </p:txBody>
      </p:sp>
      <p:sp>
        <p:nvSpPr>
          <p:cNvPr id="146" name="Google Shape;146;p24"/>
          <p:cNvSpPr txBox="1"/>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panose="00000500000000000000"/>
                <a:ea typeface="Poppins" panose="00000500000000000000"/>
                <a:cs typeface="Poppins" panose="00000500000000000000"/>
                <a:sym typeface="Poppins" panose="00000500000000000000"/>
              </a:rPr>
              <a:t>Add as per the requirements of the contest</a:t>
            </a:r>
            <a:endParaRPr sz="1620" b="1">
              <a:latin typeface="Poppins" panose="00000500000000000000"/>
              <a:ea typeface="Poppins" panose="00000500000000000000"/>
              <a:cs typeface="Poppins" panose="00000500000000000000"/>
              <a:sym typeface="Poppins" panose="00000500000000000000"/>
            </a:endParaRPr>
          </a:p>
        </p:txBody>
      </p:sp>
      <p:pic>
        <p:nvPicPr>
          <p:cNvPr id="147" name="Google Shape;147;p24"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48" name="Google Shape;148;p24"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pic>
        <p:nvPicPr>
          <p:cNvPr id="153" name="Google Shape;153;p25"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54" name="Google Shape;154;p25"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pic>
        <p:nvPicPr>
          <p:cNvPr id="159" name="Google Shape;159;p26" title="AMD.PS.S22.png"/>
          <p:cNvPicPr preferRelativeResize="0"/>
          <p:nvPr/>
        </p:nvPicPr>
        <p:blipFill rotWithShape="1">
          <a:blip r:embed="rId1"/>
          <a:srcRect b="89082"/>
          <a:stretch>
            <a:fillRect/>
          </a:stretch>
        </p:blipFill>
        <p:spPr>
          <a:xfrm>
            <a:off x="0" y="0"/>
            <a:ext cx="9144000" cy="561524"/>
          </a:xfrm>
          <a:prstGeom prst="rect">
            <a:avLst/>
          </a:prstGeom>
          <a:noFill/>
          <a:ln>
            <a:noFill/>
          </a:ln>
        </p:spPr>
      </p:pic>
      <p:pic>
        <p:nvPicPr>
          <p:cNvPr id="160" name="Google Shape;160;p26" title="AMD.PS.S11.png"/>
          <p:cNvPicPr preferRelativeResize="0"/>
          <p:nvPr/>
        </p:nvPicPr>
        <p:blipFill rotWithShape="1">
          <a:blip r:embed="rId2"/>
          <a:srcRect t="98295"/>
          <a:stretch>
            <a:fillRect/>
          </a:stretch>
        </p:blipFill>
        <p:spPr>
          <a:xfrm>
            <a:off x="0" y="5055825"/>
            <a:ext cx="9144000" cy="87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27"/>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p>
        </p:txBody>
      </p:sp>
      <p:sp>
        <p:nvSpPr>
          <p:cNvPr id="166" name="Google Shape;166;p27"/>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p>
        </p:txBody>
      </p:sp>
      <p:pic>
        <p:nvPicPr>
          <p:cNvPr id="167" name="Google Shape;167;p27" title="AMD.PS.S33.png"/>
          <p:cNvPicPr preferRelativeResize="0"/>
          <p:nvPr/>
        </p:nvPicPr>
        <p:blipFill rotWithShape="1">
          <a:blip r:embed="rId1"/>
          <a:srcRect/>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5895</Words>
  <Application>WPS Presentation</Application>
  <PresentationFormat/>
  <Paragraphs>108</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Arial</vt:lpstr>
      <vt:lpstr>Poppins</vt:lpstr>
      <vt:lpstr>Microsoft YaHei</vt:lpstr>
      <vt:lpstr>Arial Unicode MS</vt:lpstr>
      <vt:lpstr>Simple Light</vt:lpstr>
      <vt:lpstr>PowerPoint 演示文稿</vt:lpstr>
      <vt:lpstr>Brief about the idea</vt:lpstr>
      <vt:lpstr>Opportunities</vt:lpstr>
      <vt:lpstr>List of features offered by the solution</vt:lpstr>
      <vt:lpstr>Process flow diagram or Use-case diagram</vt:lpstr>
      <vt:lpstr>Architecture diagram of the proposed solution</vt:lpstr>
      <vt:lpstr>Technologies to be used in the solution</vt:lpstr>
      <vt:lpstr>Usage of AMD Products/Solutions</vt:lpstr>
      <vt:lpstr>Estimated implementation cost (optional)</vt:lpstr>
      <vt:lpstr>Prototype Assets (Optional)</vt:lpstr>
      <vt:lpstr>Add as per the requirements of the contest</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Suhas Karamaputti</cp:lastModifiedBy>
  <cp:revision>1</cp:revision>
  <dcterms:created xsi:type="dcterms:W3CDTF">2026-03-01T14:35:31Z</dcterms:created>
  <dcterms:modified xsi:type="dcterms:W3CDTF">2026-03-01T14:35:31Z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ED17C61B3AC249F09978E3528E8F6751_12</vt:lpwstr>
  </property>
  <property fmtid="{D5CDD505-2E9C-101B-9397-08002B2CF9AE}" pid="3" name="KSOProductBuildVer">
    <vt:lpwstr>1033-12.2.0.23196</vt:lpwstr>
  </property>
</Properties>
</file>